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(days)</c:v>
                </c:pt>
              </c:strCache>
            </c:strRef>
          </c:tx>
          <c:spPr>
            <a:solidFill>
              <a:srgbClr val="2B6CB0">
                <a:alpha val="9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vibration</c:v>
                  </c:pt>
                  <c:pt idx="1">
                    <c:v>temperature</c:v>
                  </c:pt>
                  <c:pt idx="2">
                    <c:v>pressure</c:v>
                  </c:pt>
                  <c:pt idx="3">
                    <c:v>power</c:v>
                  </c:pt>
                  <c:pt idx="4">
                    <c:v>humidity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-8.4</c:v>
                </c:pt>
                <c:pt idx="1">
                  <c:v>-3.6</c:v>
                </c:pt>
                <c:pt idx="2">
                  <c:v>-1.2</c:v>
                </c:pt>
                <c:pt idx="3">
                  <c:v>0.9</c:v>
                </c:pt>
                <c:pt idx="4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085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CHALLENGE · ROUND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Wizard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predictive-maintenance decision support for heavy steel plants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Action</a:t>
            </a:r>
            <a:pPr indent="0" marL="0"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it predicts what will break, prepares the fix, and refuses to close a job until every compliance step is logged.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397764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3977640"/>
            <a:ext cx="182880" cy="18288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0" name="Shape 8"/>
          <p:cNvSpPr/>
          <p:nvPr/>
        </p:nvSpPr>
        <p:spPr>
          <a:xfrm>
            <a:off x="1536192" y="397764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· HIGH · MEDIUM · LOW   priority-banded triage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Consolidated-Brain agent  ·  runs on numpy + pandas + Streamlit alone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data, manual diagnosis, costly downtime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steel plant, an engineer diagnosing a fault juggles five disconnected systems — by hand, under time pressure, dependent on expert judgement. The result is slow, inconsistent decisions and avoidable unplanned downtime.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→ 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fragmented sources collapsed into one traceable decision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135331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48656" y="12710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manuals &amp; SOPs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specs, isolation steps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17720" y="1915668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203454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2034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19522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condition data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vibration, pressure…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2596896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271576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48656" y="26334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delay logs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downtime, tonnage lost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3278124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3396996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33969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48656" y="33147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/ incident records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resolution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17720" y="3959352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407822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48656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spares inventory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&amp; procurement lead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System of Record — a System of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databases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broke and when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 human to ask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scattered across silos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troubleshooting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24528" y="2651760"/>
            <a:ext cx="713232" cy="502920"/>
          </a:xfrm>
          <a:prstGeom prst="rightArrow">
            <a:avLst/>
          </a:prstGeom>
          <a:solidFill>
            <a:srgbClr val="2B6CB0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will break — and when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work order before login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all five sources in one 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loop: blocks non-compliant jobs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decision, five answered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27632" cy="2926080"/>
          </a:xfrm>
          <a:prstGeom prst="roundRect">
            <a:avLst>
              <a:gd name="adj" fmla="val 33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151790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0116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this?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band + score, delay severity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697480"/>
            <a:ext cx="146304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157984" y="1371600"/>
            <a:ext cx="1627632" cy="2926080"/>
          </a:xfrm>
          <a:prstGeom prst="roundRect">
            <a:avLst>
              <a:gd name="adj" fmla="val 33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9776" y="151790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31136" y="20116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Root-Cause Diagnosis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31136" y="26974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failing?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9424" y="33375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fault + SHAP drivers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2697480"/>
            <a:ext cx="146304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1371600"/>
            <a:ext cx="1627632" cy="2926080"/>
          </a:xfrm>
          <a:prstGeom prst="roundRect">
            <a:avLst>
              <a:gd name="adj" fmla="val 33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51790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20116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Blueprint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26974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fix it?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50208" y="33375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steps + verified SOP 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58968" y="2697480"/>
            <a:ext cx="146304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5559552" y="1371600"/>
            <a:ext cx="1627632" cy="2926080"/>
          </a:xfrm>
          <a:prstGeom prst="roundRect">
            <a:avLst>
              <a:gd name="adj" fmla="val 33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51790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7" name="Text 25"/>
          <p:cNvSpPr/>
          <p:nvPr/>
        </p:nvSpPr>
        <p:spPr>
          <a:xfrm>
            <a:off x="618134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32704" y="20116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Supply-Chain Strategy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32704" y="26974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the parts?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50992" y="33375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lead time, mitigations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59752" y="2697480"/>
            <a:ext cx="146304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0336" y="1371600"/>
            <a:ext cx="1627632" cy="2926080"/>
          </a:xfrm>
          <a:prstGeom prst="roundRect">
            <a:avLst>
              <a:gd name="adj" fmla="val 33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82128" y="151790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88212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33488" y="20116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 &amp; Audit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33488" y="26974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it?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51776" y="33375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manuals, incidents, the SQL run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returns the same mandatory five-block output — scannable, structured, and fully cited.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Consolidated Brain</a:t>
            </a:r>
            <a:endParaRPr lang="en-US" sz="28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5989320" cy="3364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8016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11696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11696" y="16276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think→act→observe agent holds the full context and the entire tool suite — no sub-agents.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83680" y="2395728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11696" y="2468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mode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11696" y="2743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tools run via Claude (LLM) or a deterministic Python pipeline — the reproducible offline baseline.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3511296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11696" y="3584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tools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11696" y="3858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returns a rich structured object: RUL+SHAP, cited SOPs, stock+lead time, the exact SQL it ran.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brain beats many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(supervisor + sub-agents)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split across a supervisor and specialised agents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"Split-brain": agents hold mismatched slices of context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parts, more orchestration overhead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trace one coherent decision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EAF2FB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81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BRAIN (this project)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holds the full context + the entire tool suite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mismatch — nothing to reconcile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cheaper, fully observable trace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five-stage capability, one accountable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Omni / Blobby lesson: consolidate planning, don't fragment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act → observe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jargon → asset_id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resolve_asset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847088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56816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95681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RUL, failure prob, SHAP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0195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prognostic_tool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36976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46704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10128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incidents, SQL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rag_tool · sql_query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626864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0016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0016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lead times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inventory_tool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016752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9904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9904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score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71616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risk_score_tool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406640" y="1554480"/>
            <a:ext cx="1335024" cy="2194560"/>
          </a:xfrm>
          <a:prstGeom prst="roundRect">
            <a:avLst>
              <a:gd name="adj" fmla="val 411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16368" y="1682496"/>
            <a:ext cx="365760" cy="36576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7516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79792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79792" y="25054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5-block, alert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61504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alert_dispatch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57200" y="39776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40782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4.5 — Plant impact  [ROADMAP — not in the prototype]: </a:t>
            </a:r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 cascade_tool would compute downstream blast radius so an asset's priority reflects what it idles, not just its own health.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&amp;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Prognostics you can interrogate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+ 30-day failure probability, from a Random Forest trained on per-asset-type </a:t>
            </a:r>
            <a:pPr indent="0" marL="0">
              <a:lnSpc>
                <a:spcPct val="112000"/>
              </a:lnSpc>
              <a:buNone/>
            </a:pPr>
            <a:r>
              <a:rPr lang="en-US" sz="14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(z-scores vs a healthy baseline). One model serves furnaces, pumps, valves…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explains every prediction — negative bars push RUL down (accelerate failure). Falls back to model-agnostic ablation when the SHAP library is absent.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1188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drivers — Mill Drive Gearbox 5 (example)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26280" y="14630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BEHAVIOUR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Constraint-aware prioritization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 =  100 × ( 0.40·RUL  +  0.30·criticality  +  0.15·delay-history  +  0.15·spares 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explainable, 0–100 → CRITICAL / HIGH / MEDIUM / LOW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2240280"/>
          </a:xfrm>
          <a:prstGeom prst="roundRect">
            <a:avLst>
              <a:gd name="adj" fmla="val 2449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constraint flag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out-of-stock part's lead time exceeds the predicted RUL, the repair physically cannot finish before failure. The agent flips its own recommendation.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023360" cy="2240280"/>
          </a:xfrm>
          <a:prstGeom prst="roundRect">
            <a:avLst>
              <a:gd name="adj" fmla="val 2449"/>
            </a:avLst>
          </a:prstGeom>
          <a:solidFill>
            <a:srgbClr val="E1F3F1"/>
          </a:solidFill>
          <a:ln w="12700">
            <a:solidFill>
              <a:srgbClr val="0E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GEARBOX-05 — worked example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RUL:  ~38 days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Pinion lead time:  45 days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arrives AFTER failure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flips:  </a:t>
            </a:r>
            <a:pPr indent="0" marL="0">
              <a:buNone/>
            </a:pPr>
            <a:r>
              <a:rPr lang="en-US" sz="1250" b="1" dirty="0">
                <a:solidFill>
                  <a:srgbClr val="0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"replace now" → monitored-degradation plan + auto-alert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stack, zero-dependency fallback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246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Zero-dep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RandomForest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NumpyForest (bagged CART, numpy)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shap.TreeExplainer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attribution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vector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cosine index (numpy)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tool-use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Python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3212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fallback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AF2FB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42611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path is also the reproducible baseline the eval judges score against — </a:t>
            </a:r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fixed inputs always land in the same risk band.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most submissions miss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36192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prognostic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9751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+ failure prob + SHAP — not just LLM-over-docs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536192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3048" y="153619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Zero-hallucination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9751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are the only source of truth; SQL shown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36192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0256" y="153619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offline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19751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 + numpy fallback ladder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3108960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dialogue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3547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follow-ups keep the asset in focus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64408" y="2944368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3108960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13048" y="3108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547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corrections re-index RAG + adjust priority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71616" y="2944368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310896" cy="31089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0256" y="3108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Trace-based evals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6208" y="3547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guard every change against regressions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3716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“what's wrong with the mill gearbox?”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86200" y="137160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triage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15000" y="13716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&lt; lead time → flips to monitored degradation + auto-alert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204825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“that valve that keeps leaking on the caster”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20482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resolution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5000" y="204825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jargon → HYD-VALVE-07 before any tool call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27249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“check the EAF”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272491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15000" y="272491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FURNACE-01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4015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“Pre-Shift Report tab”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34015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autonomy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15000" y="34015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drafted for every flagged asset before login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40782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“Digital Logbook tab”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86200" y="40782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15000" y="407822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closure blocked until all five compliance items are green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surpassing the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cascade graph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57276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57276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/ bottleneck propagation across the 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Domain-specific SLM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157276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5B7085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157276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64608" y="2029968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maintenance model as an offline reasoning rung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172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Quantified outcomes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3191256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5B7085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19125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648456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back-tested downtime-hours &amp; cost avoided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9008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1B2A3A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172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scheduling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3191256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5B7085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319125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3648456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repairs in the RUL window vs production calendar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PROACTIVE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Predict. Prepare. Close the loop.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8368" y="2542032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unplanned downtime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999232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diagnosis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456432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prioritized maintenance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913632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Audit-grade, traceable decisions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Wizard  ·  Consolidated-Brain agent for heavy steel plants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Predictive Maintenance Wizard</dc:title>
  <dc:subject>PptxGenJS Presentation</dc:subject>
  <dc:creator>Maintenance Wizard</dc:creator>
  <cp:lastModifiedBy>Maintenance Wizard</cp:lastModifiedBy>
  <cp:revision>1</cp:revision>
  <dcterms:created xsi:type="dcterms:W3CDTF">2026-06-09T07:56:23Z</dcterms:created>
  <dcterms:modified xsi:type="dcterms:W3CDTF">2026-06-09T07:56:23Z</dcterms:modified>
</cp:coreProperties>
</file>