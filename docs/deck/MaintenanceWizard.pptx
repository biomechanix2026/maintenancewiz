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(days)</c:v>
                </c:pt>
              </c:strCache>
            </c:strRef>
          </c:tx>
          <c:spPr>
            <a:solidFill>
              <a:srgbClr val="2B6CB0">
                <a:alpha val="95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6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vibration</c:v>
                  </c:pt>
                  <c:pt idx="1">
                    <c:v>temperature</c:v>
                  </c:pt>
                  <c:pt idx="2">
                    <c:v>pressure</c:v>
                  </c:pt>
                  <c:pt idx="3">
                    <c:v>power</c:v>
                  </c:pt>
                  <c:pt idx="4">
                    <c:v>humidity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-8.4</c:v>
                </c:pt>
                <c:pt idx="1">
                  <c:v>-3.6</c:v>
                </c:pt>
                <c:pt idx="2">
                  <c:v>-1.2</c:v>
                </c:pt>
                <c:pt idx="3">
                  <c:v>0.9</c:v>
                </c:pt>
                <c:pt idx="4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16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7085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6F8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CHALLENGE · ROUND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Wizard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predictive-maintenance decision support for heavy steel plants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of Action</a:t>
            </a:r>
            <a:pPr indent="0" marL="0">
              <a:buNone/>
            </a:pPr>
            <a:r>
              <a:rPr lang="en-US" sz="140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it predicts what will break, prepares the fix, and refuses to close a job until every compliance step is logged.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3977640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8" name="Shape 6"/>
          <p:cNvSpPr/>
          <p:nvPr/>
        </p:nvSpPr>
        <p:spPr>
          <a:xfrm>
            <a:off x="950976" y="3977640"/>
            <a:ext cx="182880" cy="18288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9" name="Shape 7"/>
          <p:cNvSpPr/>
          <p:nvPr/>
        </p:nvSpPr>
        <p:spPr>
          <a:xfrm>
            <a:off x="1243584" y="3977640"/>
            <a:ext cx="182880" cy="18288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0" name="Shape 8"/>
          <p:cNvSpPr/>
          <p:nvPr/>
        </p:nvSpPr>
        <p:spPr>
          <a:xfrm>
            <a:off x="1536192" y="3977640"/>
            <a:ext cx="182880" cy="18288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39502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HIGH · MEDIUM · LOW   priority-banded triage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E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Consolidated-Brain agent  ·  runs on numpy + pandas + Streamlit alone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Fragmented data, manual diagnosis, costly downtime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steel plant, an engineer diagnosing a fault juggles five disconnected systems — by hand, under time pressure, dependent on expert judgement. The result is slow, inconsistent decisions and avoidable unplanned downtime.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880360"/>
            <a:ext cx="3931920" cy="1737360"/>
          </a:xfrm>
          <a:prstGeom prst="roundRect">
            <a:avLst>
              <a:gd name="adj" fmla="val 3158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3063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fragmented sources collapsed into one traceable decision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36592" y="1353312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47365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48656" y="12710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manuals &amp; SOPs
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specs, isolation steps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17720" y="1915668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2034540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4736592" y="2034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48656" y="195224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/ condition data
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vibration, pressure…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17720" y="2596896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36592" y="2715768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4736592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48656" y="263347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delay logs
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downtime, tonnage lost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617720" y="3278124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36592" y="3396996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4736592" y="3396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48656" y="33147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/ incident records
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cause, resolution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617720" y="3959352"/>
            <a:ext cx="4069080" cy="621792"/>
          </a:xfrm>
          <a:prstGeom prst="roundRect">
            <a:avLst>
              <a:gd name="adj" fmla="val 8824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36592" y="407822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48656" y="3995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spares inventory
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levels &amp; procurement lead time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System of Record — a System of 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databases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what broke and when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a human to ask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scattered across silos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troubleshooting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24528" y="2651760"/>
            <a:ext cx="713232" cy="502920"/>
          </a:xfrm>
          <a:prstGeom prst="rightArrow">
            <a:avLst/>
          </a:prstGeom>
          <a:solidFill>
            <a:srgbClr val="2B6CB0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autonomous agent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92040" y="22860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what will break — and when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Prepares the work order before login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all five sources in one loop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loop: blocks non-compliant jobs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DELIVERS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decision, five answered questions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1078992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Risk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 is this?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band + score, delay severity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57400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2157984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79776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31136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Root-Cause Diagnosis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31136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it failing?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9424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probable fault + SHAP drivers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758184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8" name="Shape 16"/>
          <p:cNvSpPr/>
          <p:nvPr/>
        </p:nvSpPr>
        <p:spPr>
          <a:xfrm>
            <a:off x="3858768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4480560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931920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Maintenance Blueprint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fix it?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50208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steps + verified SOP tasks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58968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5" name="Shape 23"/>
          <p:cNvSpPr/>
          <p:nvPr/>
        </p:nvSpPr>
        <p:spPr>
          <a:xfrm>
            <a:off x="5559552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81344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7" name="Text 25"/>
          <p:cNvSpPr/>
          <p:nvPr/>
        </p:nvSpPr>
        <p:spPr>
          <a:xfrm>
            <a:off x="6181344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632704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Supply-Chain Strategy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632704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get the parts?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50992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lead time, mitigations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159752" y="2697480"/>
            <a:ext cx="146304" cy="201168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0336" y="1371600"/>
            <a:ext cx="1627632" cy="2926080"/>
          </a:xfrm>
          <a:prstGeom prst="roundRect">
            <a:avLst>
              <a:gd name="adj" fmla="val 33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882128" y="1517904"/>
            <a:ext cx="384048" cy="384048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882128" y="1517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333488" y="2011680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Traceability &amp; Audit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33488" y="269748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trust it?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51776" y="3337560"/>
            <a:ext cx="1444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manuals, incidents, the SQL run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diagnosis returns the same mandatory five-block output — scannable, structured, and fully cited.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Consolidated Brain</a:t>
            </a:r>
            <a:endParaRPr lang="en-US" sz="2800" dirty="0"/>
          </a:p>
        </p:txBody>
      </p:sp>
      <p:pic>
        <p:nvPicPr>
          <p:cNvPr id="4" name="Image 0" descr="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5989320" cy="33649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0" y="1280160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711696" y="13533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loop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711696" y="162763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think→act→observe agent holds the full context and the entire tool suite — no sub-agents.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83680" y="2395728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11696" y="24688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 mode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711696" y="274320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tools run via Claude (LLM) or a deterministic Python pipeline — the reproducible offline baseline.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583680" y="3511296"/>
            <a:ext cx="2103120" cy="1024128"/>
          </a:xfrm>
          <a:prstGeom prst="roundRect">
            <a:avLst>
              <a:gd name="adj" fmla="val 5357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711696" y="35844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tools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711696" y="385876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returns a rich structured object: RUL+SHAP, cited SOPs, stock+lead time, the exact SQL it ran.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brain beats many agents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81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(supervisor + sub-agents)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split across a supervisor and specialised agents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"Split-brain": agents hold mismatched slices of context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moving parts, more orchestration overhead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to trace one coherent decision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108960"/>
          </a:xfrm>
          <a:prstGeom prst="roundRect">
            <a:avLst>
              <a:gd name="adj" fmla="val 1765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481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BRAIN (this project)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89204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loop holds the full context + the entire tool suite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knowledge mismatch — nothing to reconcile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Simpler, cheaper, fully observable trace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five-stage capability, one accountable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the Omni / Blobby lesson: consolidate planning, don't fragment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→ act → observe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jargon → asset_id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2064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resolve_asset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847088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56816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12" name="Text 10"/>
          <p:cNvSpPr/>
          <p:nvPr/>
        </p:nvSpPr>
        <p:spPr>
          <a:xfrm>
            <a:off x="1956816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20240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RUL, failure prob, SHAP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901952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prognostic_tool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3236976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46704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18" name="Text 16"/>
          <p:cNvSpPr/>
          <p:nvPr/>
        </p:nvSpPr>
        <p:spPr>
          <a:xfrm>
            <a:off x="3346704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10128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10128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incidents, SQL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91840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rag_tool · sql_query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4626864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24" name="Text 22"/>
          <p:cNvSpPr/>
          <p:nvPr/>
        </p:nvSpPr>
        <p:spPr>
          <a:xfrm>
            <a:off x="4736592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700016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00016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lead times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81728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inventory_tool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6016752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89904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Prioritise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089904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constraint-aware score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71616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risk_score_tool</a:t>
            </a:r>
            <a:endParaRPr lang="en-US" sz="870" dirty="0"/>
          </a:p>
        </p:txBody>
      </p:sp>
      <p:sp>
        <p:nvSpPr>
          <p:cNvPr id="34" name="Shape 32"/>
          <p:cNvSpPr/>
          <p:nvPr/>
        </p:nvSpPr>
        <p:spPr>
          <a:xfrm>
            <a:off x="7406640" y="1554480"/>
            <a:ext cx="1335024" cy="2194560"/>
          </a:xfrm>
          <a:prstGeom prst="roundRect">
            <a:avLst>
              <a:gd name="adj" fmla="val 411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16368" y="1682496"/>
            <a:ext cx="365760" cy="365760"/>
          </a:xfrm>
          <a:prstGeom prst="ellipse">
            <a:avLst/>
          </a:prstGeom>
          <a:solidFill>
            <a:srgbClr val="1B2A3A"/>
          </a:solidFill>
          <a:ln/>
        </p:spPr>
      </p:sp>
      <p:sp>
        <p:nvSpPr>
          <p:cNvPr id="36" name="Text 34"/>
          <p:cNvSpPr/>
          <p:nvPr/>
        </p:nvSpPr>
        <p:spPr>
          <a:xfrm>
            <a:off x="751636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79792" y="215798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79792" y="250545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5-block, alert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461504" y="32004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alert_dispatch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457200" y="397764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40080" y="407822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4.5 — Plant impact (designed): </a:t>
            </a:r>
            <a:pPr indent="0" marL="0">
              <a:buNone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cascade_tool computes downstream blast radius so an asset's priority reflects what it idles, not just its own health.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DESIGN &amp; EXPLAINABILITY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Prognostics you can interrogate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Useful Life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+ 30-day failure probability, from a Random Forest trained on per-asset-type </a:t>
            </a:r>
            <a:pPr indent="0" marL="0">
              <a:lnSpc>
                <a:spcPct val="112000"/>
              </a:lnSpc>
              <a:buNone/>
            </a:pPr>
            <a:r>
              <a:rPr lang="en-US" sz="1400" b="1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(z-scores vs a healthy baseline). One model serves furnaces, pumps, valves…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attribution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explains every prediction — negative bars push RUL down (accelerate failure). Falls back to model-agnostic ablation when the SHAP library is absent.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17720" y="11887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drivers — Mill Drive Gearbox 5 (example)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26280" y="146304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BEHAVIOUR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Constraint-aware prioritization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 w="12700">
            <a:solidFill>
              <a:srgbClr val="1B2A3A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  =  100 × ( 0.40·RUL  +  0.30·criticality  +  0.15·delay-history  +  0.15·spares 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explainable, 0–100 → CRITICAL / HIGH / MEDIUM / LOW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4023360" cy="2240280"/>
          </a:xfrm>
          <a:prstGeom prst="roundRect">
            <a:avLst>
              <a:gd name="adj" fmla="val 2449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constraint flag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out-of-stock part's lead time exceeds the predicted RUL, the repair physically cannot finish before failure. The agent flips its own recommendation.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023360" cy="2240280"/>
          </a:xfrm>
          <a:prstGeom prst="roundRect">
            <a:avLst>
              <a:gd name="adj" fmla="val 2449"/>
            </a:avLst>
          </a:prstGeom>
          <a:solidFill>
            <a:srgbClr val="E1F3F1"/>
          </a:solidFill>
          <a:ln w="12700">
            <a:solidFill>
              <a:srgbClr val="0E9488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E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GEARBOX-05 — worked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92608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RUL:  ~38 days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Pinion lead time:  45 days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arrives AFTER failure
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flips:  </a:t>
            </a:r>
            <a:pPr indent="0" marL="0">
              <a:buNone/>
            </a:pPr>
            <a:r>
              <a:rPr lang="en-US" sz="1250" b="1" dirty="0">
                <a:solidFill>
                  <a:srgbClr val="0B5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"replace now" → monitored-degradation plan + auto-alert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ANYWHERE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stack, zero-dependency fallback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46120"/>
                <a:gridCol w="3246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Zero-dep fallback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Prognostics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 RandomForest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NumpyForest (bagged CART, numpy)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shap.TreeExplainer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 attribution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 vector store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cosine index (numpy)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tool-use loop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Python pipeline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1B2A3A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28600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path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5321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Zero-dependency fallback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AF2FB"/>
          </a:solidFill>
          <a:ln w="12700">
            <a:solidFill>
              <a:srgbClr val="2B6CB0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42611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path is also the reproducible baseline the eval judges score against — </a:t>
            </a:r>
            <a:pPr indent="0" marL="0">
              <a:buNone/>
            </a:pPr>
            <a:r>
              <a:rPr lang="en-US" sz="125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fixed inputs always land in the same risk band.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things most submissions miss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603504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prognostic ML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+ failure prob + SHAP — not just LLM-over-docs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4408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10712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13048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Zero-hallucination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are the only source of truth; SQL shown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71616" y="1371600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36192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0256" y="153619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Runs offline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36208" y="19751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mode + numpy fallback ladder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Multi-turn dialogue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follow-ups keep the asset in focus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64408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10712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26" name="Text 24"/>
          <p:cNvSpPr/>
          <p:nvPr/>
        </p:nvSpPr>
        <p:spPr>
          <a:xfrm>
            <a:off x="3410712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813048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loop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29000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corrections re-index RAG + adjust priority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071616" y="2944368"/>
            <a:ext cx="2615184" cy="1371600"/>
          </a:xfrm>
          <a:prstGeom prst="roundRect">
            <a:avLst>
              <a:gd name="adj" fmla="val 4000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3108960"/>
            <a:ext cx="310896" cy="310896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0256" y="310896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Trace-based evals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354787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guard every change against regressions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scenarios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37160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“what's wrong with the mill gearbox?”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86200" y="1371600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Constraint-aware triage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715000" y="13716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&lt; lead time → flips to monitored degradation + auto-alert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3504" y="2048256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“that valve that keeps leaking on the caster”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86200" y="2048256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resolution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15000" y="2048256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jargon → HYD-VALVE-07 before any tool call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457200" y="267919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" y="27249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“check the EAF”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272491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Abbreviation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715000" y="2724912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to FURNACE-01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3504" y="340156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“Pre-Shift Report tab”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86200" y="3401568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autonomy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15000" y="3401568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orders drafted for every flagged asset before login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57200" y="403250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" y="407822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6C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“Digital Logbook tab”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86200" y="4078224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closure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715000" y="4078224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closure blocked until all five compliance items are green</a:t>
            </a:r>
            <a:endParaRPr lang="en-US" sz="10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surpassing the requirements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Plant cascade graph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46120" y="1572768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3246120" y="1572768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2029968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blast-radius / bottleneck propagation across the 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64608" y="1554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Domain-specific SLM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52360" y="1572768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12" name="Text 10"/>
          <p:cNvSpPr/>
          <p:nvPr/>
        </p:nvSpPr>
        <p:spPr>
          <a:xfrm>
            <a:off x="7452360" y="1572768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64608" y="2029968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maintenance model as an offline reasoning rung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90088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8368" y="3172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outcomes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246120" y="3191256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3191256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" y="3648456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back-tested downtime-hours &amp; cost avoided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2990088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F6F8F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25400" dir="8100000">
              <a:srgbClr val="1B2A3A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1729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Optimized scheduling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3191256"/>
            <a:ext cx="1033272" cy="310896"/>
          </a:xfrm>
          <a:prstGeom prst="roundRect">
            <a:avLst>
              <a:gd name="adj" fmla="val 50000"/>
            </a:avLst>
          </a:prstGeom>
          <a:solidFill>
            <a:srgbClr val="5B7085"/>
          </a:solidFill>
          <a:ln/>
        </p:spPr>
      </p:sp>
      <p:sp>
        <p:nvSpPr>
          <p:cNvPr id="22" name="Text 20"/>
          <p:cNvSpPr/>
          <p:nvPr/>
        </p:nvSpPr>
        <p:spPr>
          <a:xfrm>
            <a:off x="7452360" y="3191256"/>
            <a:ext cx="1033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64608" y="3648456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repairs in the RUL window vs production calendar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REACTIVE TO PROACTIVE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Predict. Prepare. Close the loop.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58368" y="25420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unplanned downtime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9992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926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more consistent diagnosis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34564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Proactive, prioritized maintenance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" y="3913632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Audit-grade, traceable decisions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Wizard  ·  Consolidated-Brain agent for heavy steel plants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Predictive Maintenance Wizard</dc:title>
  <dc:subject>PptxGenJS Presentation</dc:subject>
  <dc:creator>Maintenance Wizard</dc:creator>
  <cp:lastModifiedBy>Maintenance Wizard</cp:lastModifiedBy>
  <cp:revision>1</cp:revision>
  <dcterms:created xsi:type="dcterms:W3CDTF">2026-06-08T11:08:34Z</dcterms:created>
  <dcterms:modified xsi:type="dcterms:W3CDTF">2026-06-08T11:08:34Z</dcterms:modified>
</cp:coreProperties>
</file>